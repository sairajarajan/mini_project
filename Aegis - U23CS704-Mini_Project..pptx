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jpg" /><Relationship Id="rId4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1409" y="142875"/>
            <a:ext cx="56166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FFC000"/>
                </a:solidFill>
                <a:latin typeface="Arial"/>
              </a:rPr>
              <a:t>Sona College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4555" y="647700"/>
            <a:ext cx="2774878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FC000"/>
                </a:solidFill>
                <a:latin typeface="Arial"/>
              </a:rPr>
              <a:t>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0281" y="3083719"/>
            <a:ext cx="7298532" cy="1030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3000" b="1" u="none">
                <a:solidFill>
                  <a:srgbClr val="333333"/>
                </a:solidFill>
                <a:latin typeface="Arial"/>
              </a:rPr>
              <a:t>U23CS704-Mini Project</a:t>
            </a:r>
            <a:r>
              <a:rPr b="1"/>
              <a:t>
</a:t>
            </a:r>
            <a:r>
              <a:rPr sz="3000" b="1" u="none">
                <a:solidFill>
                  <a:srgbClr val="333333"/>
                </a:solidFill>
                <a:latin typeface="Arial"/>
              </a:rPr>
              <a:t>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124" y="295275"/>
            <a:ext cx="9001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Aegis: Intelligent Child Chat Guardian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00250"/>
            <a:ext cx="4857750" cy="355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Team No: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92610"/>
            <a:ext cx="48577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Team Details: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88791"/>
            <a:ext cx="4857750" cy="752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 dirty="0">
                <a:solidFill>
                  <a:srgbClr val="000000"/>
                </a:solidFill>
                <a:latin typeface="Arial"/>
              </a:rPr>
              <a:t>SAI RAJA RAJAN J K CSE C 4 TH YEAR (6178192102</a:t>
            </a:r>
            <a:r>
              <a:rPr lang="en-US" sz="1950" dirty="0">
                <a:solidFill>
                  <a:srgbClr val="000000"/>
                </a:solidFill>
                <a:latin typeface="Arial"/>
              </a:rPr>
              <a:t>138</a:t>
            </a:r>
            <a:r>
              <a:rPr sz="1950" b="0" i="0" u="none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81152"/>
            <a:ext cx="4857750" cy="752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1950" dirty="0">
                <a:solidFill>
                  <a:srgbClr val="000000"/>
                </a:solidFill>
                <a:latin typeface="Arial"/>
              </a:rPr>
              <a:t>SHALINI   CSE C 4 TH YEAR (61782323102</a:t>
            </a:r>
            <a:r>
              <a:rPr lang="en-GB" sz="1950" dirty="0">
                <a:solidFill>
                  <a:srgbClr val="000000"/>
                </a:solidFill>
                <a:latin typeface="Arial"/>
              </a:rPr>
              <a:t>150</a:t>
            </a:r>
            <a:r>
              <a:rPr lang="en-US" sz="1950" dirty="0">
                <a:solidFill>
                  <a:srgbClr val="000000"/>
                </a:solidFill>
                <a:latin typeface="Arial"/>
              </a:rPr>
              <a:t>)</a:t>
            </a:r>
            <a:endParaRPr sz="1950" b="0" i="0" u="non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8266" y="1822051"/>
            <a:ext cx="3750468" cy="754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000" b="1" i="0" u="none">
                <a:solidFill>
                  <a:srgbClr val="000000"/>
                </a:solidFill>
                <a:latin typeface="Arial"/>
              </a:rPr>
              <a:t>Name of the Supervisor</a:t>
            </a:r>
            <a:r>
              <a:rPr sz="2000"/>
              <a:t>
</a:t>
            </a:r>
            <a:r>
              <a:rPr sz="2000" b="0" i="0" u="none">
                <a:solidFill>
                  <a:srgbClr val="000000"/>
                </a:solidFill>
                <a:latin typeface="Arial"/>
              </a:rPr>
              <a:t> </a:t>
            </a:r>
            <a:r>
              <a:rPr lang="en-GB" sz="2000" b="0" i="0" u="none">
                <a:solidFill>
                  <a:srgbClr val="000000"/>
                </a:solidFill>
                <a:latin typeface="Arial"/>
              </a:rPr>
              <a:t>Dr.A.C.Kaladevi. ME.MCA.Phd</a:t>
            </a:r>
            <a:endParaRPr sz="2000" b="0" i="0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7281" y="295275"/>
            <a:ext cx="4557288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47EC865-7D30-2280-41D5-D4EE936EF9E0}"/>
              </a:ext>
            </a:extLst>
          </p:cNvPr>
          <p:cNvSpPr txBox="1">
            <a:spLocks/>
          </p:cNvSpPr>
          <p:nvPr/>
        </p:nvSpPr>
        <p:spPr>
          <a:xfrm>
            <a:off x="0" y="1535906"/>
            <a:ext cx="11493500" cy="4732549"/>
          </a:xfrm>
          <a:prstGeom prst="rect">
            <a:avLst/>
          </a:prstGeom>
          <a:ln/>
        </p:spPr>
        <p:txBody>
          <a:bodyPr vert="horz" wrap="square" lIns="73152" tIns="121920" rIns="121920" bIns="60960" anchor="t" anchorCtr="0">
            <a:normAutofit/>
          </a:bodyPr>
          <a:lstStyle>
            <a:defPPr>
              <a:defRPr lang="en-US"/>
            </a:defPPr>
            <a:lvl1pPr marL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09585" lvl="1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19170" lvl="2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828754" lvl="3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438339" lvl="4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3047924" lvl="5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3657509" lvl="6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4267093" lvl="7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4876678" lvl="8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/>
              <a:buNone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58323">
              <a:buSzPct val="80000"/>
            </a:pPr>
            <a:r>
              <a:rPr lang="en-US" sz="2933" b="1" dirty="0">
                <a:latin typeface="+mn-lt"/>
              </a:rPr>
              <a:t>Official Problem Statement-14</a:t>
            </a:r>
          </a:p>
          <a:p>
            <a:pPr marL="158323">
              <a:buSzPct val="80000"/>
            </a:pPr>
            <a:r>
              <a:rPr lang="en-US" sz="2933" i="1" dirty="0">
                <a:latin typeface="+mn-lt"/>
              </a:rPr>
              <a:t>Child Exploitation &amp; Grooming Pattern Detector for Social Media</a:t>
            </a:r>
          </a:p>
          <a:p>
            <a:pPr marL="158323">
              <a:buSzPct val="80000"/>
            </a:pPr>
            <a:endParaRPr lang="en-US" sz="1600" dirty="0">
              <a:latin typeface="+mn-lt"/>
            </a:endParaRPr>
          </a:p>
          <a:p>
            <a:r>
              <a:rPr lang="en-US" sz="2933" dirty="0">
                <a:latin typeface="+mn-lt"/>
              </a:rPr>
              <a:t>Design a system to detect grooming patterns and child exploitation attempts on social media platforms using language modeling, chat monitoring, and behavioral indicators.</a:t>
            </a:r>
          </a:p>
          <a:p>
            <a:r>
              <a:rPr lang="en-US" sz="2933" dirty="0">
                <a:latin typeface="+mn-lt"/>
              </a:rPr>
              <a:t>Protecting children in an increasingly connected world requires moving beyond outdated, reactive safety measures.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0238" y="295275"/>
            <a:ext cx="22513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1712595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14500"/>
            <a:ext cx="10287000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To design and develop </a:t>
            </a:r>
            <a:r>
              <a:rPr sz="1950" b="1" i="0" u="none">
                <a:solidFill>
                  <a:srgbClr val="000000"/>
                </a:solidFill>
                <a:latin typeface="Arial"/>
              </a:rPr>
              <a:t>Aegis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, a proactive, send-time chat safety system for children.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2346900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48805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To implement an AI-based content classification engine capable of analyzing message </a:t>
            </a:r>
            <a:r>
              <a:rPr sz="1950" b="1" i="0" u="none">
                <a:solidFill>
                  <a:srgbClr val="000000"/>
                </a:solidFill>
                <a:latin typeface="Arial"/>
              </a:rPr>
              <a:t>context and intent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rather than just isolated keywords.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377386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79291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To enable </a:t>
            </a:r>
            <a:r>
              <a:rPr sz="1950" b="1" i="0" u="none">
                <a:solidFill>
                  <a:srgbClr val="000000"/>
                </a:solidFill>
                <a:latin typeface="Arial"/>
              </a:rPr>
              <a:t>real-time interception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of messages, blocking predatory content before delivery while allowing safe communication.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407872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09777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To provide context-aware </a:t>
            </a:r>
            <a:r>
              <a:rPr sz="1950" b="1" i="0" u="none">
                <a:solidFill>
                  <a:srgbClr val="000000"/>
                </a:solidFill>
                <a:latin typeface="Arial"/>
              </a:rPr>
              <a:t>Guardian Alerts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that notify parents of threats without compromising the child's overall conversational privacy.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64356" y="295275"/>
            <a:ext cx="386313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 rot="10800000" flipV="1">
            <a:off x="583405" y="1508881"/>
            <a:ext cx="10013081" cy="355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Current Approaches: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385311"/>
            <a:ext cx="10668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Drawbacks: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2108775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40584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Keyword-Based Filtering: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Relies on static lists of forbidden words (e.g., profanity, explicit terms).</a:t>
            </a:r>
          </a:p>
        </p:txBody>
      </p:sp>
      <p:sp>
        <p:nvSpPr>
          <p:cNvPr id="12" name="TextBox 11"/>
          <p:cNvSpPr txBox="1"/>
          <p:nvPr/>
        </p:nvSpPr>
        <p:spPr>
          <a:xfrm flipH="1" flipV="1">
            <a:off x="761925" y="2983764"/>
            <a:ext cx="29535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2880569"/>
            <a:ext cx="10287000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Passive Monitoring / Logging: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Records chat history for parents to review later.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971626" y="3773566"/>
            <a:ext cx="85649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75471"/>
            <a:ext cx="10287000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Platform-Specific Reporting: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Relies on users to flag inappropriate behavior after it occurs.</a:t>
            </a:r>
          </a:p>
        </p:txBody>
      </p:sp>
      <p:sp>
        <p:nvSpPr>
          <p:cNvPr id="16" name="TextBox 15"/>
          <p:cNvSpPr txBox="1"/>
          <p:nvPr/>
        </p:nvSpPr>
        <p:spPr>
          <a:xfrm flipV="1">
            <a:off x="1057275" y="4864862"/>
            <a:ext cx="8565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2925" y="4840397"/>
            <a:ext cx="10287000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Easily bypassed using slang, intentional misspellings, or seemingly innocuous phrasing.</a:t>
            </a:r>
          </a:p>
        </p:txBody>
      </p:sp>
      <p:sp>
        <p:nvSpPr>
          <p:cNvPr id="18" name="TextBox 17"/>
          <p:cNvSpPr txBox="1"/>
          <p:nvPr/>
        </p:nvSpPr>
        <p:spPr>
          <a:xfrm flipV="1">
            <a:off x="1057275" y="5533608"/>
            <a:ext cx="45719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25" y="5504401"/>
            <a:ext cx="10287000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Fails to detect long-term grooming strategies or contextual threats.</a:t>
            </a:r>
          </a:p>
        </p:txBody>
      </p:sp>
      <p:sp>
        <p:nvSpPr>
          <p:cNvPr id="20" name="TextBox 19"/>
          <p:cNvSpPr txBox="1"/>
          <p:nvPr/>
        </p:nvSpPr>
        <p:spPr>
          <a:xfrm flipH="1" flipV="1">
            <a:off x="971626" y="6125945"/>
            <a:ext cx="85649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6083071"/>
            <a:ext cx="10287000" cy="2920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Does not prevent the initial psychological harm, as intervention happens post-exposure.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14383" y="295275"/>
            <a:ext cx="3363232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1943100"/>
            <a:ext cx="95250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250" b="0" i="0" u="none">
                <a:solidFill>
                  <a:srgbClr val="000000"/>
                </a:solidFill>
                <a:latin typeface="Arial"/>
              </a:rPr>
              <a:t>While significant research exists in Natural Language Processing (NLP) for general text classification and sentiment analysis, there is a notable gap in applying these advanced </a:t>
            </a:r>
            <a:r>
              <a:rPr sz="2250" b="1" i="0" u="none">
                <a:solidFill>
                  <a:srgbClr val="000000"/>
                </a:solidFill>
                <a:latin typeface="Arial"/>
              </a:rPr>
              <a:t>contextual AI models specifically for real-time, pre-delivery intervention</a:t>
            </a:r>
            <a:r>
              <a:rPr sz="2250" b="0" i="0" u="none">
                <a:solidFill>
                  <a:srgbClr val="000000"/>
                </a:solidFill>
                <a:latin typeface="Arial"/>
              </a:rPr>
              <a:t> in youth chat environments.</a:t>
            </a:r>
            <a:r>
              <a:t>
</a:t>
            </a:r>
            <a:r>
              <a:rPr sz="2250" b="0" i="0" u="none">
                <a:solidFill>
                  <a:srgbClr val="000000"/>
                </a:solidFill>
                <a:latin typeface="Arial"/>
              </a:rPr>
              <a:t> Existing solutions either lack the nuanced understanding required to detect subtle grooming behaviors, or they operate retroactively, failing to act as a preventative shield at the exact moment of transmission.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92762" y="295275"/>
            <a:ext cx="18064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1712595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14500"/>
            <a:ext cx="10287000" cy="11885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Send-Time Interception: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The system shifts from passive auditing to active, real-time intervention. Messages are evaluated and blocked </a:t>
            </a:r>
            <a:r>
              <a:rPr sz="1950" b="0" i="1" u="none">
                <a:solidFill>
                  <a:srgbClr val="000000"/>
                </a:solidFill>
                <a:latin typeface="Arial"/>
              </a:rPr>
              <a:t>before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they reach the recipient's screen, preventing exposure entirely.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535441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37346"/>
            <a:ext cx="10287000" cy="1188541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Intent vs. Keywords: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Utilizing AI to analyze the underlying psychological intent and context of the conversation, effectively identifying manipulation tactics that evade simple keyword filters.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5358288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360193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Privacy-Preserving Alerts: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Alerts parents only when necessary, providing contextual reasoning for blocks without requiring constant surveillance of harmless chat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17843" y="295275"/>
            <a:ext cx="5556163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1712595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14500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Data Collection &amp; Preprocessing: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Gather and anonymize datasets containing examples of both safe peer-to-peer chat and known predatory/grooming interactions.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2743080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44985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Model Selection &amp; Training: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Utilize NLP models (e.g., BERT, RoBERTa) fine-tuned specifically for intent classification and grooming detection.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773566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75471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Message Interception Pipeline: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Develop a middleware component that temporarily holds outgoing messages from the chat interface.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804052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05957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Contextual Evaluation: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Pass intercepted messages through the AI model, which evaluates the current message alongside recent conversation history to generate a risk 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5834538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836443"/>
            <a:ext cx="10287000" cy="79236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Decision Engine:</a:t>
            </a:r>
            <a:r>
              <a:rPr sz="1950" b="0" i="0" u="none">
                <a:solidFill>
                  <a:srgbClr val="000000"/>
                </a:solidFill>
                <a:latin typeface="Arial"/>
              </a:rPr>
              <a:t> Implement logic to allow delivery of safe messages or trigger a block and alert mechanism if the risk score exceeds defined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02110"/>
            <a:ext cx="106680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9165" y="295275"/>
            <a:ext cx="685366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Proposed-Workflow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30810"/>
            <a:ext cx="10668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1" i="0" u="none" dirty="0">
                <a:solidFill>
                  <a:srgbClr val="000000"/>
                </a:solidFill>
                <a:latin typeface="Arial"/>
              </a:rPr>
              <a:t>Data Flow:</a:t>
            </a:r>
            <a:r>
              <a:rPr sz="1950" b="0" i="0" u="none" dirty="0">
                <a:solidFill>
                  <a:srgbClr val="000000"/>
                </a:solidFill>
                <a:latin typeface="Arial"/>
              </a:rPr>
              <a:t> Sender → Intercept Buffer → AI Context Classifier → Decision (Deliver/Block) → Receiver/Guardian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1390" y="4086076"/>
            <a:ext cx="470907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666666"/>
                </a:solidFill>
                <a:latin typeface="Arial"/>
              </a:rPr>
              <a:t>[ Insert Architecture / Workflow Diagram Here 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DE3104-7AAC-4460-AFCC-7B9116905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29" y="2023170"/>
            <a:ext cx="11773391" cy="4396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9891" y="295275"/>
            <a:ext cx="5232216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Tools and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0548" y="1619250"/>
            <a:ext cx="913090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Programming Languages: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0548" y="2887860"/>
            <a:ext cx="913090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Framework: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0548" y="4156471"/>
            <a:ext cx="913090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Tools: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0548" y="5425082"/>
            <a:ext cx="913090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1" i="0" u="none">
                <a:solidFill>
                  <a:srgbClr val="000000"/>
                </a:solidFill>
                <a:latin typeface="Arial"/>
              </a:rPr>
              <a:t>Dataset: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5823" y="2204025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548" y="2205930"/>
            <a:ext cx="8749903" cy="35503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Python (Backend/AI), JavaScript (Frontend/Chat Interface)</a:t>
            </a:r>
            <a:r>
              <a:rPr lang="en-GB" sz="1950" b="0" i="0" u="none">
                <a:solidFill>
                  <a:srgbClr val="000000"/>
                </a:solidFill>
                <a:latin typeface="Arial"/>
              </a:rPr>
              <a:t>, Flutter </a:t>
            </a:r>
            <a:endParaRPr sz="1950" b="0" i="0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5823" y="3472636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548" y="3474541"/>
            <a:ext cx="8749903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Flask/FastAPI, TensorFlow/PyTorch,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5823" y="4741247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548" y="4743152"/>
            <a:ext cx="8749903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VS Code, Git/GitHub, Postman (API Testing)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5823" y="6009858"/>
            <a:ext cx="85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548" y="6011763"/>
            <a:ext cx="8749903" cy="39618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000000"/>
                </a:solidFill>
                <a:latin typeface="Arial"/>
              </a:rPr>
              <a:t>PAN12 Sexual Predator Identification Dataset (or similar cyberbullying datasets)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47710" y="295275"/>
            <a:ext cx="269643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3E92A-9413-EE0F-9A6E-23F4989C04AC}"/>
              </a:ext>
            </a:extLst>
          </p:cNvPr>
          <p:cNvSpPr txBox="1"/>
          <p:nvPr/>
        </p:nvSpPr>
        <p:spPr>
          <a:xfrm>
            <a:off x="381000" y="1614158"/>
            <a:ext cx="88769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/>
              <a:t>1. For NLP Detection – Detoxify
Lightweight, runs locally, perfect for real-time classification  
https://github.com/unitaryai/detoxify
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153361-048A-6A4B-C89B-A7797229F0E9}"/>
              </a:ext>
            </a:extLst>
          </p:cNvPr>
          <p:cNvSpPr txBox="1"/>
          <p:nvPr/>
        </p:nvSpPr>
        <p:spPr>
          <a:xfrm>
            <a:off x="5181600" y="74497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3E4C53-F3E6-D798-FAE6-DF1AA28696B5}"/>
              </a:ext>
            </a:extLst>
          </p:cNvPr>
          <p:cNvSpPr txBox="1"/>
          <p:nvPr/>
        </p:nvSpPr>
        <p:spPr>
          <a:xfrm>
            <a:off x="381000" y="2604356"/>
            <a:ext cx="7141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/>
              <a:t>2. For Send-Time Intercept – FastAPI WebSockets
To catch message before it’s delivered  
https://github.com/tiangolo/fastapi/tree/master/examples/websockets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25D71E-0715-1C89-C824-0E79BCA9D76D}"/>
              </a:ext>
            </a:extLst>
          </p:cNvPr>
          <p:cNvSpPr txBox="1"/>
          <p:nvPr/>
        </p:nvSpPr>
        <p:spPr>
          <a:xfrm>
            <a:off x="381000" y="3657761"/>
            <a:ext cx="677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/>
              <a:t>3. For Training Data – PAN12 Grooming Dataset
Labeled grooming conversations to train/fine-tune your model  
Search on Kaggle: PAN12 Online Grooming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5EA43-041D-6231-1613-B7BB62131D62}"/>
              </a:ext>
            </a:extLst>
          </p:cNvPr>
          <p:cNvSpPr txBox="1"/>
          <p:nvPr/>
        </p:nvSpPr>
        <p:spPr>
          <a:xfrm>
            <a:off x="381000" y="4782177"/>
            <a:ext cx="677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/>
              <a:t>4. For Demo Chat UI – React Native Gifted Chat
Ready chat UI with socket support to show Aegis in action  
https://github.com/FaridSafi/react-native-gifted-chat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53932" y="295275"/>
            <a:ext cx="308413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Queries????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850"/>
            <a:ext cx="121920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5687" y="295275"/>
            <a:ext cx="25006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C000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Arial"/>
              </a:rPr>
              <a:t>Date: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562725"/>
            <a:ext cx="571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66666"/>
                </a:solidFill>
                <a:latin typeface="Arial"/>
              </a:rPr>
              <a:t>U23CS704-Mini Project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0" y="6562725"/>
            <a:ext cx="2857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666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896</Words>
  <Application>Microsoft Office PowerPoint</Application>
  <PresentationFormat>Widescreen</PresentationFormat>
  <Paragraphs>127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SAI</dc:creator>
  <cp:keywords/>
  <dc:description>generated using python-pptx</dc:description>
  <cp:lastModifiedBy>SAI RAJARAJAN J K</cp:lastModifiedBy>
  <cp:revision>4</cp:revision>
  <dcterms:created xsi:type="dcterms:W3CDTF">2013-01-27T09:14:16Z</dcterms:created>
  <dcterms:modified xsi:type="dcterms:W3CDTF">2026-08-13T04:45:16Z</dcterms:modified>
  <cp:category/>
</cp:coreProperties>
</file>